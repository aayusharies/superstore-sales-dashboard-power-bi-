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3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333"/>
                </a:solidFill>
                <a:latin typeface="Calibri"/>
              </a:rPr>
              <a:t>Monthly Sales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 Sales</c:v>
                </c:pt>
              </c:strCache>
            </c:strRef>
          </c:tx>
          <c:spPr>
            <a:solidFill>
              <a:srgbClr val="118DFF"/>
            </a:solidFill>
            <a:ln w="34925" cap="flat">
              <a:solidFill>
                <a:srgbClr val="118D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18DFF"/>
              </a:solidFill>
              <a:ln w="9525" cap="flat">
                <a:solidFill>
                  <a:srgbClr val="118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18616.431</c:v>
                </c:pt>
                <c:pt idx="1">
                  <c:v>19978.815</c:v>
                </c:pt>
                <c:pt idx="2">
                  <c:v>51715.875</c:v>
                </c:pt>
                <c:pt idx="3">
                  <c:v>38750.039</c:v>
                </c:pt>
                <c:pt idx="4">
                  <c:v>50987.728</c:v>
                </c:pt>
                <c:pt idx="5">
                  <c:v>40344.534</c:v>
                </c:pt>
                <c:pt idx="6">
                  <c:v>39261.963</c:v>
                </c:pt>
                <c:pt idx="7">
                  <c:v>31115.3743</c:v>
                </c:pt>
                <c:pt idx="8">
                  <c:v>73410.0249</c:v>
                </c:pt>
                <c:pt idx="9">
                  <c:v>42687.745</c:v>
                </c:pt>
                <c:pt idx="10">
                  <c:v>79411.9658</c:v>
                </c:pt>
                <c:pt idx="11">
                  <c:v>78399.043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 Sales</c:v>
                </c:pt>
              </c:strCache>
            </c:strRef>
          </c:tx>
          <c:spPr>
            <a:solidFill>
              <a:srgbClr val="E66C37"/>
            </a:solidFill>
            <a:ln w="34925" cap="flat">
              <a:solidFill>
                <a:srgbClr val="E66C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66C37"/>
              </a:solidFill>
              <a:ln w="9525" cap="flat">
                <a:solidFill>
                  <a:srgbClr val="E66C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54763.374</c:v>
                </c:pt>
                <c:pt idx="1">
                  <c:v>52068.1334</c:v>
                </c:pt>
                <c:pt idx="2">
                  <c:v>64229.3528</c:v>
                </c:pt>
                <c:pt idx="3">
                  <c:v>50807.5361</c:v>
                </c:pt>
                <c:pt idx="4">
                  <c:v>66750.1102</c:v>
                </c:pt>
                <c:pt idx="5">
                  <c:v>69242.7257</c:v>
                </c:pt>
                <c:pt idx="6">
                  <c:v>60077.416</c:v>
                </c:pt>
                <c:pt idx="7">
                  <c:v>77338.88799999999</c:v>
                </c:pt>
                <c:pt idx="8">
                  <c:v>119803.652</c:v>
                </c:pt>
                <c:pt idx="9">
                  <c:v>88896.9232</c:v>
                </c:pt>
                <c:pt idx="10">
                  <c:v>130960.825</c:v>
                </c:pt>
                <c:pt idx="11">
                  <c:v>166185.8488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3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BEEF5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771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3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333"/>
                </a:solidFill>
                <a:latin typeface="Calibri"/>
              </a:rPr>
              <a:t>Monthly Profit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 Profit</c:v>
                </c:pt>
              </c:strCache>
            </c:strRef>
          </c:tx>
          <c:spPr>
            <a:solidFill>
              <a:srgbClr val="197278"/>
            </a:solidFill>
            <a:ln w="34925" cap="flat">
              <a:solidFill>
                <a:srgbClr val="1972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97278"/>
              </a:solidFill>
              <a:ln w="9525" cap="flat">
                <a:solidFill>
                  <a:srgbClr val="1972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2853.0901</c:v>
                </c:pt>
                <c:pt idx="1">
                  <c:v>5004.5795</c:v>
                </c:pt>
                <c:pt idx="2">
                  <c:v>3611.9680000000003</c:v>
                </c:pt>
                <c:pt idx="3">
                  <c:v>2977.8149000000003</c:v>
                </c:pt>
                <c:pt idx="4">
                  <c:v>8662.1464</c:v>
                </c:pt>
                <c:pt idx="5">
                  <c:v>4750.3781</c:v>
                </c:pt>
                <c:pt idx="6">
                  <c:v>4432.8778999999995</c:v>
                </c:pt>
                <c:pt idx="7">
                  <c:v>2062.0693</c:v>
                </c:pt>
                <c:pt idx="8">
                  <c:v>9328.6576</c:v>
                </c:pt>
                <c:pt idx="9">
                  <c:v>16243.142500000002</c:v>
                </c:pt>
                <c:pt idx="10">
                  <c:v>4011.4075</c:v>
                </c:pt>
                <c:pt idx="11">
                  <c:v>17885.3093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 Profit</c:v>
                </c:pt>
              </c:strCache>
            </c:strRef>
          </c:tx>
          <c:spPr>
            <a:solidFill>
              <a:srgbClr val="D9B300"/>
            </a:solidFill>
            <a:ln w="34925" cap="flat">
              <a:solidFill>
                <a:srgbClr val="D9B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D9B300"/>
              </a:solidFill>
              <a:ln w="9525" cap="flat">
                <a:solidFill>
                  <a:srgbClr val="D9B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7140.4391000000005</c:v>
                </c:pt>
                <c:pt idx="1">
                  <c:v>1613.8719999999998</c:v>
                </c:pt>
                <c:pt idx="2">
                  <c:v>14751.8915</c:v>
                </c:pt>
                <c:pt idx="3">
                  <c:v>933.2900000000001</c:v>
                </c:pt>
                <c:pt idx="4">
                  <c:v>6342.5828</c:v>
                </c:pt>
                <c:pt idx="5">
                  <c:v>8223.3357</c:v>
                </c:pt>
                <c:pt idx="6">
                  <c:v>6952.6212</c:v>
                </c:pt>
                <c:pt idx="7">
                  <c:v>9040.9557</c:v>
                </c:pt>
                <c:pt idx="8">
                  <c:v>10991.5556</c:v>
                </c:pt>
                <c:pt idx="9">
                  <c:v>9275.2755</c:v>
                </c:pt>
                <c:pt idx="10">
                  <c:v>9690.1037</c:v>
                </c:pt>
                <c:pt idx="11">
                  <c:v>8482.742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BEEF5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771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C2333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C2333"/>
                </a:solidFill>
                <a:latin typeface="Calibri"/>
              </a:rPr>
              <a:t>Sales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18DFF">
                <a:alpha val="100000"/>
              </a:srgbClr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C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Technology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643708</c:v>
                </c:pt>
                <c:pt idx="1">
                  <c:v>470588</c:v>
                </c:pt>
                <c:pt idx="2">
                  <c:v>451509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950" u="none">
                  <a:solidFill>
                    <a:srgbClr val="1C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BEEF5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C2333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C2333"/>
                </a:solidFill>
                <a:latin typeface="Calibri"/>
              </a:rPr>
              <a:t>Top Sub-Categories by Sales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B007B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C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Binders</c:v>
                  </c:pt>
                  <c:pt idx="3">
                    <c:v>Storage</c:v>
                  </c:pt>
                  <c:pt idx="4">
                    <c:v>Accessories</c:v>
                  </c:pt>
                  <c:pt idx="5">
                    <c:v>Tables</c:v>
                  </c:pt>
                  <c:pt idx="6">
                    <c:v>Paper</c:v>
                  </c:pt>
                  <c:pt idx="7">
                    <c:v>Furnishings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196564</c:v>
                </c:pt>
                <c:pt idx="1">
                  <c:v>181946</c:v>
                </c:pt>
                <c:pt idx="2">
                  <c:v>174978</c:v>
                </c:pt>
                <c:pt idx="3">
                  <c:v>150341</c:v>
                </c:pt>
                <c:pt idx="4">
                  <c:v>122301</c:v>
                </c:pt>
                <c:pt idx="5">
                  <c:v>119294</c:v>
                </c:pt>
                <c:pt idx="6">
                  <c:v>99454</c:v>
                </c:pt>
                <c:pt idx="7">
                  <c:v>92691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950" u="none">
                  <a:solidFill>
                    <a:srgbClr val="1C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BEEF5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C2333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C2333"/>
                </a:solidFill>
                <a:latin typeface="Calibri"/>
              </a:rPr>
              <a:t>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By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18DFF"/>
              </a:solidFill>
              <a:effectLst/>
            </c:spPr>
          </c:dPt>
          <c:dPt>
            <c:idx val="1"/>
            <c:bubble3D val="0"/>
            <c:spPr>
              <a:solidFill>
                <a:srgbClr val="E66C37"/>
              </a:solidFill>
              <a:effectLst/>
            </c:spPr>
          </c:dPt>
          <c:dPt>
            <c:idx val="2"/>
            <c:bubble3D val="0"/>
            <c:spPr>
              <a:solidFill>
                <a:srgbClr val="19727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753002</c:v>
                </c:pt>
                <c:pt idx="1">
                  <c:v>509743</c:v>
                </c:pt>
                <c:pt idx="2">
                  <c:v>303059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771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C2333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C2333"/>
                </a:solidFill>
                <a:latin typeface="Calibri"/>
              </a:rPr>
              <a:t>By Payment Mode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By Payment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007B"/>
              </a:solidFill>
              <a:effectLst/>
            </c:spPr>
          </c:dPt>
          <c:dPt>
            <c:idx val="1"/>
            <c:bubble3D val="0"/>
            <c:spPr>
              <a:solidFill>
                <a:srgbClr val="D9B300"/>
              </a:solidFill>
              <a:effectLst/>
            </c:spPr>
          </c:dPt>
          <c:dPt>
            <c:idx val="2"/>
            <c:bubble3D val="0"/>
            <c:spPr>
              <a:solidFill>
                <a:srgbClr val="1AAB4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COD</c:v>
                </c:pt>
                <c:pt idx="1">
                  <c:v>Online</c:v>
                </c:pt>
                <c:pt idx="2">
                  <c:v>Cards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667418</c:v>
                </c:pt>
                <c:pt idx="1">
                  <c:v>553993</c:v>
                </c:pt>
                <c:pt idx="2">
                  <c:v>344393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771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C2333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C2333"/>
                </a:solidFill>
                <a:latin typeface="Calibri"/>
              </a:rPr>
              <a:t>By Region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By 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18DFF"/>
              </a:solidFill>
              <a:effectLst/>
            </c:spPr>
          </c:dPt>
          <c:dPt>
            <c:idx val="1"/>
            <c:bubble3D val="0"/>
            <c:spPr>
              <a:solidFill>
                <a:srgbClr val="E66C37"/>
              </a:solidFill>
              <a:effectLst/>
            </c:spPr>
          </c:dPt>
          <c:dPt>
            <c:idx val="2"/>
            <c:bubble3D val="0"/>
            <c:spPr>
              <a:solidFill>
                <a:srgbClr val="197278"/>
              </a:solidFill>
              <a:effectLst/>
            </c:spPr>
          </c:dPt>
          <c:dPt>
            <c:idx val="3"/>
            <c:bubble3D val="0"/>
            <c:spPr>
              <a:solidFill>
                <a:srgbClr val="6B007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522441</c:v>
                </c:pt>
                <c:pt idx="1">
                  <c:v>450235</c:v>
                </c:pt>
                <c:pt idx="2">
                  <c:v>341008</c:v>
                </c:pt>
                <c:pt idx="3">
                  <c:v>252121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771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333"/>
                </a:solidFill>
                <a:latin typeface="Calibri"/>
              </a:rPr>
              <a:t>Sales by Ship Mode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97278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C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912401</c:v>
                </c:pt>
                <c:pt idx="1">
                  <c:v>314508</c:v>
                </c:pt>
                <c:pt idx="2">
                  <c:v>242937</c:v>
                </c:pt>
                <c:pt idx="3">
                  <c:v>95959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050" u="none">
                  <a:solidFill>
                    <a:srgbClr val="1C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BEEF5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(last 15 days)</c:v>
                </c:pt>
              </c:strCache>
            </c:strRef>
          </c:tx>
          <c:spPr>
            <a:solidFill>
              <a:srgbClr val="118DFF"/>
            </a:solidFill>
            <a:ln w="31750" cap="flat">
              <a:solidFill>
                <a:srgbClr val="118DF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18DFF"/>
              </a:solidFill>
              <a:ln w="9525" cap="flat">
                <a:solidFill>
                  <a:srgbClr val="118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Dec 17</c:v>
                  </c:pt>
                  <c:pt idx="1">
                    <c:v>Dec 18</c:v>
                  </c:pt>
                  <c:pt idx="2">
                    <c:v>Dec 19</c:v>
                  </c:pt>
                  <c:pt idx="3">
                    <c:v>Dec 20</c:v>
                  </c:pt>
                  <c:pt idx="4">
                    <c:v>Dec 21</c:v>
                  </c:pt>
                  <c:pt idx="5">
                    <c:v>Dec 22</c:v>
                  </c:pt>
                  <c:pt idx="6">
                    <c:v>Dec 23</c:v>
                  </c:pt>
                  <c:pt idx="7">
                    <c:v>Dec 24</c:v>
                  </c:pt>
                  <c:pt idx="8">
                    <c:v>Dec 25</c:v>
                  </c:pt>
                  <c:pt idx="9">
                    <c:v>Dec 26</c:v>
                  </c:pt>
                  <c:pt idx="10">
                    <c:v>Dec 27</c:v>
                  </c:pt>
                  <c:pt idx="11">
                    <c:v>Dec 28</c:v>
                  </c:pt>
                  <c:pt idx="12">
                    <c:v>Dec 29</c:v>
                  </c:pt>
                  <c:pt idx="13">
                    <c:v>Dec 30</c:v>
                  </c:pt>
                  <c:pt idx="14">
                    <c:v>Dec 31</c:v>
                  </c:pt>
                  <c:pt idx="15">
                    <c:v>Jan 01</c:v>
                  </c:pt>
                  <c:pt idx="16">
                    <c:v>Jan 02</c:v>
                  </c:pt>
                  <c:pt idx="17">
                    <c:v>Jan 03</c:v>
                  </c:pt>
                  <c:pt idx="18">
                    <c:v>Jan 04</c:v>
                  </c:pt>
                  <c:pt idx="19">
                    <c:v>Jan 05</c:v>
                  </c:pt>
                  <c:pt idx="20">
                    <c:v>Jan 06</c:v>
                  </c:pt>
                  <c:pt idx="21">
                    <c:v>Jan 07</c:v>
                  </c:pt>
                  <c:pt idx="22">
                    <c:v>Jan 08</c:v>
                  </c:pt>
                  <c:pt idx="23">
                    <c:v>Jan 09</c:v>
                  </c:pt>
                  <c:pt idx="24">
                    <c:v>Jan 10</c:v>
                  </c:pt>
                  <c:pt idx="25">
                    <c:v>Jan 11</c:v>
                  </c:pt>
                  <c:pt idx="26">
                    <c:v>Jan 12</c:v>
                  </c:pt>
                  <c:pt idx="27">
                    <c:v>Jan 13</c:v>
                  </c:pt>
                  <c:pt idx="28">
                    <c:v>Jan 14</c:v>
                  </c:pt>
                  <c:pt idx="29">
                    <c:v>Jan 15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7537.758</c:v>
                </c:pt>
                <c:pt idx="1">
                  <c:v>10588.911</c:v>
                </c:pt>
                <c:pt idx="2">
                  <c:v>3981.926</c:v>
                </c:pt>
                <c:pt idx="3">
                  <c:v>4915.736</c:v>
                </c:pt>
                <c:pt idx="4">
                  <c:v>5207.94</c:v>
                </c:pt>
                <c:pt idx="5">
                  <c:v>7820.041</c:v>
                </c:pt>
                <c:pt idx="6">
                  <c:v>7597.776</c:v>
                </c:pt>
                <c:pt idx="7">
                  <c:v>8057.054</c:v>
                </c:pt>
                <c:pt idx="8">
                  <c:v>9721.927</c:v>
                </c:pt>
                <c:pt idx="9">
                  <c:v>1966.594</c:v>
                </c:pt>
                <c:pt idx="10">
                  <c:v>2195.636</c:v>
                </c:pt>
                <c:pt idx="11">
                  <c:v>6555.3508</c:v>
                </c:pt>
                <c:pt idx="12">
                  <c:v>3763.534</c:v>
                </c:pt>
                <c:pt idx="13">
                  <c:v>2807.79</c:v>
                </c:pt>
                <c:pt idx="14">
                  <c:v>2975.51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(next 15 days)</c:v>
                </c:pt>
              </c:strCache>
            </c:strRef>
          </c:tx>
          <c:spPr>
            <a:solidFill>
              <a:srgbClr val="E66C37"/>
            </a:solidFill>
            <a:ln w="31750" cap="flat">
              <a:solidFill>
                <a:srgbClr val="E66C37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66C37"/>
              </a:solidFill>
              <a:ln w="9525" cap="flat">
                <a:solidFill>
                  <a:srgbClr val="E66C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Dec 17</c:v>
                  </c:pt>
                  <c:pt idx="1">
                    <c:v>Dec 18</c:v>
                  </c:pt>
                  <c:pt idx="2">
                    <c:v>Dec 19</c:v>
                  </c:pt>
                  <c:pt idx="3">
                    <c:v>Dec 20</c:v>
                  </c:pt>
                  <c:pt idx="4">
                    <c:v>Dec 21</c:v>
                  </c:pt>
                  <c:pt idx="5">
                    <c:v>Dec 22</c:v>
                  </c:pt>
                  <c:pt idx="6">
                    <c:v>Dec 23</c:v>
                  </c:pt>
                  <c:pt idx="7">
                    <c:v>Dec 24</c:v>
                  </c:pt>
                  <c:pt idx="8">
                    <c:v>Dec 25</c:v>
                  </c:pt>
                  <c:pt idx="9">
                    <c:v>Dec 26</c:v>
                  </c:pt>
                  <c:pt idx="10">
                    <c:v>Dec 27</c:v>
                  </c:pt>
                  <c:pt idx="11">
                    <c:v>Dec 28</c:v>
                  </c:pt>
                  <c:pt idx="12">
                    <c:v>Dec 29</c:v>
                  </c:pt>
                  <c:pt idx="13">
                    <c:v>Dec 30</c:v>
                  </c:pt>
                  <c:pt idx="14">
                    <c:v>Dec 31</c:v>
                  </c:pt>
                  <c:pt idx="15">
                    <c:v>Jan 01</c:v>
                  </c:pt>
                  <c:pt idx="16">
                    <c:v>Jan 02</c:v>
                  </c:pt>
                  <c:pt idx="17">
                    <c:v>Jan 03</c:v>
                  </c:pt>
                  <c:pt idx="18">
                    <c:v>Jan 04</c:v>
                  </c:pt>
                  <c:pt idx="19">
                    <c:v>Jan 05</c:v>
                  </c:pt>
                  <c:pt idx="20">
                    <c:v>Jan 06</c:v>
                  </c:pt>
                  <c:pt idx="21">
                    <c:v>Jan 07</c:v>
                  </c:pt>
                  <c:pt idx="22">
                    <c:v>Jan 08</c:v>
                  </c:pt>
                  <c:pt idx="23">
                    <c:v>Jan 09</c:v>
                  </c:pt>
                  <c:pt idx="24">
                    <c:v>Jan 10</c:v>
                  </c:pt>
                  <c:pt idx="25">
                    <c:v>Jan 11</c:v>
                  </c:pt>
                  <c:pt idx="26">
                    <c:v>Jan 12</c:v>
                  </c:pt>
                  <c:pt idx="27">
                    <c:v>Jan 13</c:v>
                  </c:pt>
                  <c:pt idx="28">
                    <c:v>Jan 14</c:v>
                  </c:pt>
                  <c:pt idx="29">
                    <c:v>Jan 15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2975.51</c:v>
                </c:pt>
                <c:pt idx="15">
                  <c:v>5222.6893291954</c:v>
                </c:pt>
                <c:pt idx="16">
                  <c:v>5202.24810570263</c:v>
                </c:pt>
                <c:pt idx="17">
                  <c:v>5181.80688220986</c:v>
                </c:pt>
                <c:pt idx="18">
                  <c:v>5161.36565871709</c:v>
                </c:pt>
                <c:pt idx="19">
                  <c:v>5140.92443522432</c:v>
                </c:pt>
                <c:pt idx="20">
                  <c:v>5120.48321173155</c:v>
                </c:pt>
                <c:pt idx="21">
                  <c:v>5100.0419882387805</c:v>
                </c:pt>
                <c:pt idx="22">
                  <c:v>5079.60076474601</c:v>
                </c:pt>
                <c:pt idx="23">
                  <c:v>5059.159541253241</c:v>
                </c:pt>
                <c:pt idx="24">
                  <c:v>5038.71831776047</c:v>
                </c:pt>
                <c:pt idx="25">
                  <c:v>5018.277094267701</c:v>
                </c:pt>
                <c:pt idx="26">
                  <c:v>4997.83587077493</c:v>
                </c:pt>
                <c:pt idx="27">
                  <c:v>4977.394647282161</c:v>
                </c:pt>
                <c:pt idx="28">
                  <c:v>4956.95342378939</c:v>
                </c:pt>
                <c:pt idx="29">
                  <c:v>4936.512200296621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BEE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771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771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3" Type="http://schemas.openxmlformats.org/officeDocument/2006/relationships/chart" Target="/ppt/charts/chart4.xml"/><Relationship Id="rId2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18D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377440" cy="2377440"/>
          </a:xfrm>
          <a:prstGeom prst="ellipse">
            <a:avLst/>
          </a:prstGeom>
          <a:solidFill>
            <a:srgbClr val="E66C3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18D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7860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Dashboard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35844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&amp; Operations Overview  •  FY 2019–2020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4617720"/>
            <a:ext cx="420624" cy="420624"/>
          </a:xfrm>
          <a:prstGeom prst="ellipse">
            <a:avLst/>
          </a:prstGeom>
          <a:solidFill>
            <a:srgbClr val="118DFF"/>
          </a:solidFill>
          <a:ln/>
        </p:spPr>
      </p:sp>
      <p:pic>
        <p:nvPicPr>
          <p:cNvPr id="9" name="Image 0" descr="icon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601" y="4672401"/>
            <a:ext cx="311262" cy="3112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5102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920240" y="4617720"/>
            <a:ext cx="420624" cy="420624"/>
          </a:xfrm>
          <a:prstGeom prst="ellipse">
            <a:avLst/>
          </a:prstGeom>
          <a:solidFill>
            <a:srgbClr val="E66C37"/>
          </a:solidFill>
          <a:ln/>
        </p:spPr>
      </p:sp>
      <p:pic>
        <p:nvPicPr>
          <p:cNvPr id="12" name="Image 1" descr="icons/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921" y="4672401"/>
            <a:ext cx="311262" cy="311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5102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37560" y="4617720"/>
            <a:ext cx="420624" cy="420624"/>
          </a:xfrm>
          <a:prstGeom prst="ellipse">
            <a:avLst/>
          </a:prstGeom>
          <a:solidFill>
            <a:srgbClr val="197278"/>
          </a:solidFill>
          <a:ln/>
        </p:spPr>
      </p:sp>
      <p:pic>
        <p:nvPicPr>
          <p:cNvPr id="15" name="Image 2" descr="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241" y="4672401"/>
            <a:ext cx="311262" cy="311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00400" y="5102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4617720"/>
            <a:ext cx="420624" cy="420624"/>
          </a:xfrm>
          <a:prstGeom prst="ellipse">
            <a:avLst/>
          </a:prstGeom>
          <a:solidFill>
            <a:srgbClr val="D9B300"/>
          </a:solidFill>
          <a:ln/>
        </p:spPr>
      </p:sp>
      <p:pic>
        <p:nvPicPr>
          <p:cNvPr id="18" name="Image 3" descr="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561" y="4672401"/>
            <a:ext cx="311262" cy="3112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17720" y="5102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029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through 2020-12-31  •  Recreated from Power BI report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Performance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73352"/>
            <a:ext cx="566928" cy="566928"/>
          </a:xfrm>
          <a:prstGeom prst="ellipse">
            <a:avLst/>
          </a:prstGeom>
          <a:solidFill>
            <a:srgbClr val="118DFF"/>
          </a:solidFill>
          <a:ln/>
        </p:spPr>
      </p:sp>
      <p:pic>
        <p:nvPicPr>
          <p:cNvPr id="6" name="Image 0" descr="icon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53" y="174705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774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$1.57M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31520" y="28986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2095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3,003 orders placed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00984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673352"/>
            <a:ext cx="566928" cy="566928"/>
          </a:xfrm>
          <a:prstGeom prst="ellipse">
            <a:avLst/>
          </a:prstGeom>
          <a:solidFill>
            <a:srgbClr val="E66C37"/>
          </a:solidFill>
          <a:ln/>
        </p:spPr>
      </p:sp>
      <p:pic>
        <p:nvPicPr>
          <p:cNvPr id="12" name="Image 1" descr="icons/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17" y="1747053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3774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$175.3K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3529584" y="28986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9584" y="32095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 net margin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99048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673352"/>
            <a:ext cx="566928" cy="566928"/>
          </a:xfrm>
          <a:prstGeom prst="ellipse">
            <a:avLst/>
          </a:prstGeom>
          <a:solidFill>
            <a:srgbClr val="1AAB40"/>
          </a:solidFill>
          <a:ln/>
        </p:spPr>
      </p:sp>
      <p:pic>
        <p:nvPicPr>
          <p:cNvPr id="18" name="Image 2" descr="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781" y="1747053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23774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22,317</a:t>
            </a:r>
            <a:endParaRPr lang="en-US" sz="2700" dirty="0"/>
          </a:p>
        </p:txBody>
      </p:sp>
      <p:sp>
        <p:nvSpPr>
          <p:cNvPr id="20" name="Text 15"/>
          <p:cNvSpPr/>
          <p:nvPr/>
        </p:nvSpPr>
        <p:spPr>
          <a:xfrm>
            <a:off x="6327648" y="28986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27648" y="32095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3,003 unique orders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97112" y="141732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53144" y="1673352"/>
            <a:ext cx="566928" cy="566928"/>
          </a:xfrm>
          <a:prstGeom prst="ellipse">
            <a:avLst/>
          </a:prstGeom>
          <a:solidFill>
            <a:srgbClr val="197278"/>
          </a:solidFill>
          <a:ln/>
        </p:spPr>
      </p:sp>
      <p:pic>
        <p:nvPicPr>
          <p:cNvPr id="24" name="Image 3" descr="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845" y="1747053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25712" y="23774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days</a:t>
            </a:r>
            <a:endParaRPr lang="en-US" sz="2700" dirty="0"/>
          </a:p>
        </p:txBody>
      </p:sp>
      <p:sp>
        <p:nvSpPr>
          <p:cNvPr id="26" name="Text 20"/>
          <p:cNvSpPr/>
          <p:nvPr/>
        </p:nvSpPr>
        <p:spPr>
          <a:xfrm>
            <a:off x="9125712" y="28986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 Time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125712" y="32095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delivery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02920" y="4160520"/>
            <a:ext cx="111831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4361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Scope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22960" y="472744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window:  2019-01-01  →  2020-12-31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 United States  •  4 regions  •  filterable by Region in the live report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tracked:  Office Supplies, Technology, Furniture (3 categories, 17 sub-categories)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&amp; Profit — 2019 vs 2020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7315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" y="4023360"/>
          <a:ext cx="7315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8183880" y="1371600"/>
            <a:ext cx="3502152" cy="4983480"/>
          </a:xfrm>
          <a:prstGeom prst="roundRect">
            <a:avLst>
              <a:gd name="adj" fmla="val 2089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412480" y="155448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8412480" y="2057400"/>
            <a:ext cx="109728" cy="109728"/>
          </a:xfrm>
          <a:prstGeom prst="ellipse">
            <a:avLst/>
          </a:prstGeom>
          <a:solidFill>
            <a:srgbClr val="1AAB40"/>
          </a:solidFill>
          <a:ln/>
        </p:spPr>
      </p:sp>
      <p:sp>
        <p:nvSpPr>
          <p:cNvPr id="9" name="Text 5"/>
          <p:cNvSpPr/>
          <p:nvPr/>
        </p:nvSpPr>
        <p:spPr>
          <a:xfrm>
            <a:off x="8641080" y="199339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41080" y="22219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+77%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641080" y="26151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$564.7K → $1.00M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412480" y="3090672"/>
            <a:ext cx="109728" cy="109728"/>
          </a:xfrm>
          <a:prstGeom prst="ellipse">
            <a:avLst/>
          </a:prstGeom>
          <a:solidFill>
            <a:srgbClr val="1AAB40"/>
          </a:solidFill>
          <a:ln/>
        </p:spPr>
      </p:sp>
      <p:sp>
        <p:nvSpPr>
          <p:cNvPr id="13" name="Text 9"/>
          <p:cNvSpPr/>
          <p:nvPr/>
        </p:nvSpPr>
        <p:spPr>
          <a:xfrm>
            <a:off x="8641080" y="302666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Growth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41080" y="325526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641080" y="364845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$81.8K → $93.4K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412480" y="4123944"/>
            <a:ext cx="109728" cy="10972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3"/>
          <p:cNvSpPr/>
          <p:nvPr/>
        </p:nvSpPr>
        <p:spPr>
          <a:xfrm>
            <a:off x="8641080" y="405993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641080" y="428853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641080" y="468172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14.5% in 2019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Category &amp; Sub-Category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46634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3749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Supplies: $643.7K  (41% of total sales)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$470.6K  (30% of total sales)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Furniture: $451.5K  (29% of total sales)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7548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4937760"/>
            <a:ext cx="457200" cy="457200"/>
          </a:xfrm>
          <a:prstGeom prst="ellipse">
            <a:avLst/>
          </a:prstGeom>
          <a:solidFill>
            <a:srgbClr val="118DFF"/>
          </a:solidFill>
          <a:ln/>
        </p:spPr>
      </p:sp>
      <p:pic>
        <p:nvPicPr>
          <p:cNvPr id="8" name="Image 0" descr="icons/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499719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487375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leads on volume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$643.7K in sales (41% share) — high-frequency, lower-ticket items drive consistent order volume.</a:t>
            </a:r>
            <a:endParaRPr lang="en-US" sz="10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623560" y="1417320"/>
          <a:ext cx="6062472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Mix by Segment, Payment Mode &amp; Region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645920"/>
          <a:ext cx="3063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303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Consumer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$753.0K  (48% of sales)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79392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4507992" y="1645920"/>
          <a:ext cx="3063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07992" y="5303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COD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$667.4K  (43% of sales)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55864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graphicFrame>
        <p:nvGraphicFramePr>
          <p:cNvPr id="11" name="Chart 2" descr=""/>
          <p:cNvGraphicFramePr/>
          <p:nvPr/>
        </p:nvGraphicFramePr>
        <p:xfrm>
          <a:off x="8284464" y="1645920"/>
          <a:ext cx="3063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8284464" y="5303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West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$522.4K  (33% of sales)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Mode Performance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63040"/>
            <a:ext cx="400507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09560" y="1691640"/>
            <a:ext cx="502920" cy="502920"/>
          </a:xfrm>
          <a:prstGeom prst="ellipse">
            <a:avLst/>
          </a:prstGeom>
          <a:solidFill>
            <a:srgbClr val="197278"/>
          </a:solidFill>
          <a:ln/>
        </p:spPr>
      </p:sp>
      <p:pic>
        <p:nvPicPr>
          <p:cNvPr id="7" name="Image 0" descr="icons/shi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940" y="175702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09560" y="2331720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909560" y="2834640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sales ship Standard Class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680960" y="3657600"/>
            <a:ext cx="4005072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09560" y="3886200"/>
            <a:ext cx="502920" cy="502920"/>
          </a:xfrm>
          <a:prstGeom prst="ellipse">
            <a:avLst/>
          </a:prstGeom>
          <a:solidFill>
            <a:srgbClr val="D9B300"/>
          </a:solidFill>
          <a:ln/>
        </p:spPr>
      </p:sp>
      <p:pic>
        <p:nvPicPr>
          <p:cNvPr id="12" name="Image 1" descr="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940" y="395158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09560" y="4526280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days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7909560" y="5029200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order to ship across all modes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States — Sales &amp; Profit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694944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  <a:gridCol w="12801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9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9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9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9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$335,190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A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771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$186,748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A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771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$116,262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-$14,078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Washington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$92,975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A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771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Pennsylvania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$82,355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-$9,298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-$9,339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Illinois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-$9,555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$49,915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$48,505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A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771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Carolina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$39,705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-$4,828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417320"/>
            <a:ext cx="3822192" cy="4572000"/>
          </a:xfrm>
          <a:prstGeom prst="roundRect">
            <a:avLst>
              <a:gd name="adj" fmla="val 1914"/>
            </a:avLst>
          </a:prstGeom>
          <a:solidFill>
            <a:srgbClr val="FDF0EF"/>
          </a:solidFill>
          <a:ln w="12700">
            <a:solidFill>
              <a:srgbClr val="F4C9C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0" y="1627632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7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7820" y="1693012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92440" y="224028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Warning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92440" y="256032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the top 10 states by sales are currently running a net loss: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092440" y="3063240"/>
            <a:ext cx="3364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 (-$14,078)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  (-$9,298)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 (-$9,339)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 (-$9,555)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 (-$228)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Carolina  (-$4,828)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92440" y="470916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strong revenue, these markets likely carry heavy discounting or high return / shipping costs — worth a pricing &amp; logistics review.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Outlook — Next 15 Days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7772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417320"/>
            <a:ext cx="3044952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42248" y="160020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Sales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42248" y="18470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$5,080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842248" y="2286000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projected, next 15 days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42248" y="2606040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$5,713/day in the prior 15 days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641080" y="3520440"/>
            <a:ext cx="3044952" cy="2103120"/>
          </a:xfrm>
          <a:prstGeom prst="roundRect">
            <a:avLst>
              <a:gd name="adj" fmla="val 3478"/>
            </a:avLst>
          </a:prstGeom>
          <a:solidFill>
            <a:srgbClr val="FFF8E8"/>
          </a:solidFill>
          <a:ln w="12700">
            <a:solidFill>
              <a:srgbClr val="F0E2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42248" y="3703320"/>
            <a:ext cx="411480" cy="411480"/>
          </a:xfrm>
          <a:prstGeom prst="ellipse">
            <a:avLst/>
          </a:prstGeom>
          <a:solidFill>
            <a:srgbClr val="D9B300"/>
          </a:solidFill>
          <a:ln/>
        </p:spPr>
      </p:sp>
      <p:pic>
        <p:nvPicPr>
          <p:cNvPr id="12" name="Image 0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740" y="3756812"/>
            <a:ext cx="304495" cy="3044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72600" y="37490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842248" y="4160520"/>
            <a:ext cx="2642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illustrative linear trend projection built from the last 30 days of order data. The live Power BI report uses built-in exponential-smoothing forecasting with confidence intervals.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118DFF"/>
          </a:solidFill>
          <a:ln/>
        </p:spPr>
      </p:sp>
      <p:pic>
        <p:nvPicPr>
          <p:cNvPr id="6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67792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outpacing profitability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196596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77% YoY but profit only 14% — margin compressed from 14.5% to 9.3%. Review discounting and cost-to-serve.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27064" y="141732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618488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1" name="Image 1" descr="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68" y="167792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0024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top-selling states are unprofitable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050024" y="196596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Texas, Pennsylvania, Ohio, Illinois, Florida &amp; North Carolina post strong revenue but negative profit — a clear pricing/logistics review target.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06324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3264408"/>
            <a:ext cx="457200" cy="457200"/>
          </a:xfrm>
          <a:prstGeom prst="ellipse">
            <a:avLst/>
          </a:prstGeom>
          <a:solidFill>
            <a:srgbClr val="1AAB40"/>
          </a:solidFill>
          <a:ln/>
        </p:spPr>
      </p:sp>
      <p:pic>
        <p:nvPicPr>
          <p:cNvPr id="16" name="Image 2" descr="icons/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32384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27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leads, Tech &amp; Furniture lag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25880" y="361188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drives 41% of sales on volume; Technology and Furniture have headroom to grow share.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27064" y="306324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264408"/>
            <a:ext cx="457200" cy="457200"/>
          </a:xfrm>
          <a:prstGeom prst="ellipse">
            <a:avLst/>
          </a:prstGeom>
          <a:solidFill>
            <a:srgbClr val="197278"/>
          </a:solidFill>
          <a:ln/>
        </p:spPr>
      </p:sp>
      <p:pic>
        <p:nvPicPr>
          <p:cNvPr id="21" name="Image 3" descr="icons/shipp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332384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0024" y="3227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dominates fulfillment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50024" y="361188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sales ship Standard Class — an upsell opportunity toward faster, higher-margin shipping tiers.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70916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4910328"/>
            <a:ext cx="457200" cy="457200"/>
          </a:xfrm>
          <a:prstGeom prst="ellipse">
            <a:avLst/>
          </a:prstGeom>
          <a:solidFill>
            <a:srgbClr val="6B007B"/>
          </a:solidFill>
          <a:ln/>
        </p:spPr>
      </p:sp>
      <p:pic>
        <p:nvPicPr>
          <p:cNvPr id="26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496976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873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leads, South lags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25880" y="525780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($522.4K) outsells South ($252.1K) by 2.1x — room for regional expansion and targeted marketing.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27064" y="4709160"/>
            <a:ext cx="5394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27000" dist="38100" dir="5400000">
              <a:srgbClr val="1C2333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8232" y="4910328"/>
            <a:ext cx="457200" cy="457200"/>
          </a:xfrm>
          <a:prstGeom prst="ellipse">
            <a:avLst/>
          </a:prstGeom>
          <a:solidFill>
            <a:srgbClr val="D9B300"/>
          </a:solidFill>
          <a:ln/>
        </p:spPr>
      </p:sp>
      <p:pic>
        <p:nvPicPr>
          <p:cNvPr id="31" name="Image 5" descr="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496976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50024" y="4873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is the core base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050024" y="525780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accounts for 48% of sales — Corporate and Home Office remain under-penetrated growth segments.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2883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18DF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E66C3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6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Dashboard  •  Recreated from Power BI report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</dc:title>
  <dc:subject>PptxGenJS Presentation</dc:subject>
  <dc:creator>Claude</dc:creator>
  <cp:lastModifiedBy>Claude</cp:lastModifiedBy>
  <cp:revision>1</cp:revision>
  <dcterms:created xsi:type="dcterms:W3CDTF">2026-06-20T08:26:28Z</dcterms:created>
  <dcterms:modified xsi:type="dcterms:W3CDTF">2026-06-20T08:26:28Z</dcterms:modified>
</cp:coreProperties>
</file>